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Chess is still the working surface. This is not a launch or a finished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say the product is complete. Say first sessions stop stalling.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Still assisted: Causey sets the district up. No public district signup.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 built: pairings, dues, or a public club directory.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claim other competition types are complete.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Ops still needs the three weekend database updates applied on live Supabase. Do not say that in the room unless someone asks why a live path still fails.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8368" y="2148840"/>
            <a:ext cx="10607040" cy="1234440"/>
          </a:xfrm>
        </p:spPr>
        <p:txBody>
          <a:bodyPr wrap="square"/>
          <a:lstStyle/>
          <a:p>
            <a:pPr algn="l">
              <a:defRPr sz="4400" b="1">
                <a:solidFill>
                  <a:srgbClr val="14181C"/>
                </a:solidFill>
                <a:latin typeface="Source Serif 4"/>
              </a:defRPr>
            </a:pPr>
            <a:r>
              <a:rPr lang="en-US" smtClean="0" sz="4400" b="1">
                <a:solidFill>
                  <a:srgbClr val="14181C"/>
                </a:solidFill>
                <a:latin typeface="Source Serif 4"/>
                <a:ea typeface="Source Serif 4"/>
                <a:cs typeface="Source Serif 4"/>
              </a:rPr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368" y="3429000"/>
            <a:ext cx="9326880" cy="914400"/>
          </a:xfrm>
        </p:spPr>
        <p:txBody>
          <a:bodyPr wrap="square"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>
              <a:defRPr sz="2000" b="0">
                <a:solidFill>
                  <a:srgbClr val="5A6570"/>
                </a:solidFill>
                <a:latin typeface="Source Sans 3"/>
              </a:defRPr>
            </a:pPr>
            <a:r>
              <a:rPr lang="en-US" smtClean="0" sz="2000" b="0">
                <a:solidFill>
                  <a:srgbClr val="5A6570"/>
                </a:solidFill>
                <a:latin typeface="Source Sans 3"/>
                <a:ea typeface="Source Sans 3"/>
                <a:cs typeface="Source Sans 3"/>
              </a:rPr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pPr algn="l">
              <a:defRPr sz="1100" b="0">
                <a:solidFill>
                  <a:srgbClr val="5A6570"/>
                </a:solidFill>
                <a:latin typeface="Source Sans 3"/>
              </a:defRPr>
            </a:pPr>
            <a:fld id="{5BCAD085-E8A6-8845-BD4E-CB4CCA059FC4}" type="datetimeFigureOut">
              <a:rPr lang="en-US" smtClean="0"/>
              <a:t>1/27/13</a:t>
            </a:fld>
            <a:r>
              <a:rPr sz="1100" b="0">
                <a:solidFill>
                  <a:srgbClr val="5A6570"/>
                </a:solidFill>
                <a:latin typeface="Source Sans 3"/>
                <a:ea typeface="Source Sans 3"/>
                <a:cs typeface="Source Sans 3"/>
              </a:rPr>
              <a:t>Internal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/>
          <a:p>
            <a:r>
              <a:t>Causey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384048"/>
            <a:ext cx="10881360" cy="868680"/>
          </a:xfrm>
        </p:spPr>
        <p:txBody>
          <a:bodyPr wrap="square"/>
          <a:lstStyle/>
          <a:p>
            <a:pPr algn="l">
              <a:defRPr sz="3200" b="1">
                <a:solidFill>
                  <a:srgbClr val="14181C"/>
                </a:solidFill>
                <a:latin typeface="Source Serif 4"/>
              </a:defRPr>
            </a:pPr>
            <a:r>
              <a:rPr lang="en-US" smtClean="0" sz="3200" b="1">
                <a:solidFill>
                  <a:srgbClr val="14181C"/>
                </a:solidFill>
                <a:latin typeface="Source Serif 4"/>
                <a:ea typeface="Source Serif 4"/>
                <a:cs typeface="Source Serif 4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368" y="1371600"/>
            <a:ext cx="10881360" cy="4892040"/>
          </a:xfrm>
        </p:spPr>
        <p:txBody>
          <a:bodyPr wrap="square"/>
          <a:lstStyle/>
          <a:p>
            <a:pPr lvl="0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Click to edit Master text styles</a:t>
            </a:r>
          </a:p>
          <a:p>
            <a:pPr lvl="1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Second level</a:t>
            </a:r>
          </a:p>
          <a:p>
            <a:pPr lvl="2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Third level</a:t>
            </a:r>
          </a:p>
          <a:p>
            <a:pPr lvl="3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Fourth level</a:t>
            </a:r>
          </a:p>
          <a:p>
            <a:pPr lvl="4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pPr algn="l">
              <a:defRPr sz="1100" b="0">
                <a:solidFill>
                  <a:srgbClr val="5A6570"/>
                </a:solidFill>
                <a:latin typeface="Source Sans 3"/>
              </a:defRPr>
            </a:pPr>
            <a:fld id="{5BCAD085-E8A6-8845-BD4E-CB4CCA059FC4}" type="datetimeFigureOut">
              <a:rPr lang="en-US" smtClean="0"/>
              <a:t>1/27/13</a:t>
            </a:fld>
            <a:r>
              <a:rPr sz="1100" b="0">
                <a:solidFill>
                  <a:srgbClr val="5A6570"/>
                </a:solidFill>
                <a:latin typeface="Source Sans 3"/>
                <a:ea typeface="Source Sans 3"/>
                <a:cs typeface="Source Sans 3"/>
              </a:rPr>
              <a:t>Internal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/>
          <a:p>
            <a:r>
              <a:t>Causey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2331720"/>
            <a:ext cx="10607040" cy="1280160"/>
          </a:xfrm>
        </p:spPr>
        <p:txBody>
          <a:bodyPr anchor="t" wrap="square"/>
          <a:lstStyle>
            <a:lvl1pPr algn="l">
              <a:defRPr sz="4000" b="1" cap="all"/>
            </a:lvl1pPr>
          </a:lstStyle>
          <a:p>
            <a:pPr algn="l">
              <a:defRPr sz="4000" b="1">
                <a:solidFill>
                  <a:srgbClr val="14181C"/>
                </a:solidFill>
                <a:latin typeface="Source Serif 4"/>
              </a:defRPr>
            </a:pPr>
            <a:r>
              <a:rPr lang="en-US" smtClean="0" sz="4000" b="1">
                <a:solidFill>
                  <a:srgbClr val="14181C"/>
                </a:solidFill>
                <a:latin typeface="Source Serif 4"/>
                <a:ea typeface="Source Serif 4"/>
                <a:cs typeface="Source Serif 4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8368" y="3703320"/>
            <a:ext cx="9326880" cy="822960"/>
          </a:xfrm>
        </p:spPr>
        <p:txBody>
          <a:bodyPr anchor="b" wrap="square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algn="l">
              <a:defRPr sz="1800" b="0">
                <a:solidFill>
                  <a:srgbClr val="5A6570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5A6570"/>
                </a:solidFill>
                <a:latin typeface="Source Sans 3"/>
                <a:ea typeface="Source Sans 3"/>
                <a:cs typeface="Source Sans 3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pPr algn="l">
              <a:defRPr sz="1100" b="0">
                <a:solidFill>
                  <a:srgbClr val="5A6570"/>
                </a:solidFill>
                <a:latin typeface="Source Sans 3"/>
              </a:defRPr>
            </a:pPr>
            <a:fld id="{5BCAD085-E8A6-8845-BD4E-CB4CCA059FC4}" type="datetimeFigureOut">
              <a:rPr lang="en-US" smtClean="0"/>
              <a:t>1/27/13</a:t>
            </a:fld>
            <a:r>
              <a:rPr sz="1100" b="0">
                <a:solidFill>
                  <a:srgbClr val="5A6570"/>
                </a:solidFill>
                <a:latin typeface="Source Sans 3"/>
                <a:ea typeface="Source Sans 3"/>
                <a:cs typeface="Source Sans 3"/>
              </a:rPr>
              <a:t>Internal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/>
          <a:p>
            <a:r>
              <a:t>Causey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384048"/>
            <a:ext cx="10881360" cy="868680"/>
          </a:xfrm>
        </p:spPr>
        <p:txBody>
          <a:bodyPr wrap="square"/>
          <a:lstStyle/>
          <a:p>
            <a:pPr algn="l">
              <a:defRPr sz="3200" b="1">
                <a:solidFill>
                  <a:srgbClr val="14181C"/>
                </a:solidFill>
                <a:latin typeface="Source Serif 4"/>
              </a:defRPr>
            </a:pPr>
            <a:r>
              <a:rPr lang="en-US" smtClean="0" sz="3200" b="1">
                <a:solidFill>
                  <a:srgbClr val="14181C"/>
                </a:solidFill>
                <a:latin typeface="Source Serif 4"/>
                <a:ea typeface="Source Serif 4"/>
                <a:cs typeface="Source Serif 4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8368" y="1371600"/>
            <a:ext cx="5212080" cy="4892040"/>
          </a:xfrm>
        </p:spPr>
        <p:txBody>
          <a:bodyPr wrap="square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Click to edit Master text styles</a:t>
            </a:r>
          </a:p>
          <a:p>
            <a:pPr lvl="1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Second level</a:t>
            </a:r>
          </a:p>
          <a:p>
            <a:pPr lvl="2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Third level</a:t>
            </a:r>
          </a:p>
          <a:p>
            <a:pPr lvl="3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Fourth level</a:t>
            </a:r>
          </a:p>
          <a:p>
            <a:pPr lvl="4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9360" y="1371600"/>
            <a:ext cx="5212080" cy="4892040"/>
          </a:xfrm>
        </p:spPr>
        <p:txBody>
          <a:bodyPr wrap="square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Click to edit Master text styles</a:t>
            </a:r>
          </a:p>
          <a:p>
            <a:pPr lvl="1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Second level</a:t>
            </a:r>
          </a:p>
          <a:p>
            <a:pPr lvl="2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Third level</a:t>
            </a:r>
          </a:p>
          <a:p>
            <a:pPr lvl="3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Fourth level</a:t>
            </a:r>
          </a:p>
          <a:p>
            <a:pPr lvl="4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pPr algn="l">
              <a:defRPr sz="1100" b="0">
                <a:solidFill>
                  <a:srgbClr val="5A6570"/>
                </a:solidFill>
                <a:latin typeface="Source Sans 3"/>
              </a:defRPr>
            </a:pPr>
            <a:fld id="{5BCAD085-E8A6-8845-BD4E-CB4CCA059FC4}" type="datetimeFigureOut">
              <a:rPr lang="en-US" smtClean="0"/>
              <a:t>1/27/13</a:t>
            </a:fld>
            <a:r>
              <a:rPr sz="1100" b="0">
                <a:solidFill>
                  <a:srgbClr val="5A6570"/>
                </a:solidFill>
                <a:latin typeface="Source Sans 3"/>
                <a:ea typeface="Source Sans 3"/>
                <a:cs typeface="Source Sans 3"/>
              </a:rPr>
              <a:t>Internal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/>
          <a:p>
            <a:r>
              <a:t>Causey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384048"/>
            <a:ext cx="10881360" cy="868680"/>
          </a:xfrm>
        </p:spPr>
        <p:txBody>
          <a:bodyPr wrap="square"/>
          <a:lstStyle>
            <a:lvl1pPr>
              <a:defRPr/>
            </a:lvl1pPr>
          </a:lstStyle>
          <a:p>
            <a:pPr algn="l">
              <a:defRPr sz="3200" b="1">
                <a:solidFill>
                  <a:srgbClr val="14181C"/>
                </a:solidFill>
                <a:latin typeface="Source Serif 4"/>
              </a:defRPr>
            </a:pPr>
            <a:r>
              <a:rPr lang="en-US" smtClean="0" sz="3200" b="1">
                <a:solidFill>
                  <a:srgbClr val="14181C"/>
                </a:solidFill>
                <a:latin typeface="Source Serif 4"/>
                <a:ea typeface="Source Serif 4"/>
                <a:cs typeface="Source Serif 4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 wrap="square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 wrap="square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Click to edit Master text styles</a:t>
            </a:r>
          </a:p>
          <a:p>
            <a:pPr lvl="1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Second level</a:t>
            </a:r>
          </a:p>
          <a:p>
            <a:pPr lvl="2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Third level</a:t>
            </a:r>
          </a:p>
          <a:p>
            <a:pPr lvl="3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Fourth level</a:t>
            </a:r>
          </a:p>
          <a:p>
            <a:pPr lvl="4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 wrap="square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 wrap="square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Click to edit Master text styles</a:t>
            </a:r>
          </a:p>
          <a:p>
            <a:pPr lvl="1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Second level</a:t>
            </a:r>
          </a:p>
          <a:p>
            <a:pPr lvl="2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Third level</a:t>
            </a:r>
          </a:p>
          <a:p>
            <a:pPr lvl="3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Fourth level</a:t>
            </a:r>
          </a:p>
          <a:p>
            <a:pPr lvl="4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pPr algn="l">
              <a:defRPr sz="1100" b="0">
                <a:solidFill>
                  <a:srgbClr val="5A6570"/>
                </a:solidFill>
                <a:latin typeface="Source Sans 3"/>
              </a:defRPr>
            </a:pPr>
            <a:fld id="{5BCAD085-E8A6-8845-BD4E-CB4CCA059FC4}" type="datetimeFigureOut">
              <a:rPr lang="en-US" smtClean="0"/>
              <a:t>1/27/13</a:t>
            </a:fld>
            <a:r>
              <a:rPr sz="1100" b="0">
                <a:solidFill>
                  <a:srgbClr val="5A6570"/>
                </a:solidFill>
                <a:latin typeface="Source Sans 3"/>
                <a:ea typeface="Source Sans 3"/>
                <a:cs typeface="Source Sans 3"/>
              </a:rPr>
              <a:t>Internal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/>
          <a:p>
            <a:r>
              <a:t>Causey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384048"/>
            <a:ext cx="10881360" cy="868680"/>
          </a:xfrm>
        </p:spPr>
        <p:txBody>
          <a:bodyPr wrap="square"/>
          <a:lstStyle/>
          <a:p>
            <a:pPr algn="l">
              <a:defRPr sz="3200" b="1">
                <a:solidFill>
                  <a:srgbClr val="14181C"/>
                </a:solidFill>
                <a:latin typeface="Source Serif 4"/>
              </a:defRPr>
            </a:pPr>
            <a:r>
              <a:rPr lang="en-US" smtClean="0" sz="3200" b="1">
                <a:solidFill>
                  <a:srgbClr val="14181C"/>
                </a:solidFill>
                <a:latin typeface="Source Serif 4"/>
                <a:ea typeface="Source Serif 4"/>
                <a:cs typeface="Source Serif 4"/>
              </a:rPr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pPr algn="l">
              <a:defRPr sz="1100" b="0">
                <a:solidFill>
                  <a:srgbClr val="5A6570"/>
                </a:solidFill>
                <a:latin typeface="Source Sans 3"/>
              </a:defRPr>
            </a:pPr>
            <a:fld id="{5BCAD085-E8A6-8845-BD4E-CB4CCA059FC4}" type="datetimeFigureOut">
              <a:rPr lang="en-US" smtClean="0"/>
              <a:t>1/27/13</a:t>
            </a:fld>
            <a:r>
              <a:rPr sz="1100" b="0">
                <a:solidFill>
                  <a:srgbClr val="5A6570"/>
                </a:solidFill>
                <a:latin typeface="Source Sans 3"/>
                <a:ea typeface="Source Sans 3"/>
                <a:cs typeface="Source Sans 3"/>
              </a:rPr>
              <a:t>Internal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/>
          <a:p>
            <a:r>
              <a:t>Causey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pPr algn="l">
              <a:defRPr sz="1100" b="0">
                <a:solidFill>
                  <a:srgbClr val="5A6570"/>
                </a:solidFill>
                <a:latin typeface="Source Sans 3"/>
              </a:defRPr>
            </a:pPr>
            <a:fld id="{5BCAD085-E8A6-8845-BD4E-CB4CCA059FC4}" type="datetimeFigureOut">
              <a:rPr lang="en-US" smtClean="0"/>
              <a:t>1/27/13</a:t>
            </a:fld>
            <a:r>
              <a:rPr sz="1100" b="0">
                <a:solidFill>
                  <a:srgbClr val="5A6570"/>
                </a:solidFill>
                <a:latin typeface="Source Sans 3"/>
                <a:ea typeface="Source Sans 3"/>
                <a:cs typeface="Source Sans 3"/>
              </a:rPr>
              <a:t>Internal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/>
          <a:p>
            <a:r>
              <a:t>Causey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384048"/>
            <a:ext cx="10881360" cy="868680"/>
          </a:xfrm>
        </p:spPr>
        <p:txBody>
          <a:bodyPr anchor="b" wrap="square"/>
          <a:lstStyle>
            <a:lvl1pPr algn="l">
              <a:defRPr sz="2000" b="1"/>
            </a:lvl1pPr>
          </a:lstStyle>
          <a:p>
            <a:pPr algn="l">
              <a:defRPr sz="3200" b="1">
                <a:solidFill>
                  <a:srgbClr val="14181C"/>
                </a:solidFill>
                <a:latin typeface="Source Serif 4"/>
              </a:defRPr>
            </a:pPr>
            <a:r>
              <a:rPr lang="en-US" smtClean="0" sz="3200" b="1">
                <a:solidFill>
                  <a:srgbClr val="14181C"/>
                </a:solidFill>
                <a:latin typeface="Source Serif 4"/>
                <a:ea typeface="Source Serif 4"/>
                <a:cs typeface="Source Serif 4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 wrap="square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Click to edit Master text styles</a:t>
            </a:r>
          </a:p>
          <a:p>
            <a:pPr lvl="1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Second level</a:t>
            </a:r>
          </a:p>
          <a:p>
            <a:pPr lvl="2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Third level</a:t>
            </a:r>
          </a:p>
          <a:p>
            <a:pPr lvl="3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Fourth level</a:t>
            </a:r>
          </a:p>
          <a:p>
            <a:pPr lvl="4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 wrap="square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pPr algn="l">
              <a:defRPr sz="1100" b="0">
                <a:solidFill>
                  <a:srgbClr val="5A6570"/>
                </a:solidFill>
                <a:latin typeface="Source Sans 3"/>
              </a:defRPr>
            </a:pPr>
            <a:fld id="{5BCAD085-E8A6-8845-BD4E-CB4CCA059FC4}" type="datetimeFigureOut">
              <a:rPr lang="en-US" smtClean="0"/>
              <a:t>1/27/13</a:t>
            </a:fld>
            <a:r>
              <a:rPr sz="1100" b="0">
                <a:solidFill>
                  <a:srgbClr val="5A6570"/>
                </a:solidFill>
                <a:latin typeface="Source Sans 3"/>
                <a:ea typeface="Source Sans 3"/>
                <a:cs typeface="Source Sans 3"/>
              </a:rPr>
              <a:t>Internal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/>
          <a:p>
            <a:r>
              <a:t>Causey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384048"/>
            <a:ext cx="10881360" cy="868680"/>
          </a:xfrm>
        </p:spPr>
        <p:txBody>
          <a:bodyPr anchor="b" wrap="square"/>
          <a:lstStyle>
            <a:lvl1pPr algn="l">
              <a:defRPr sz="2000" b="1"/>
            </a:lvl1pPr>
          </a:lstStyle>
          <a:p>
            <a:pPr algn="l">
              <a:defRPr sz="3200" b="1">
                <a:solidFill>
                  <a:srgbClr val="14181C"/>
                </a:solidFill>
                <a:latin typeface="Source Serif 4"/>
              </a:defRPr>
            </a:pPr>
            <a:r>
              <a:rPr lang="en-US" smtClean="0" sz="3200" b="1">
                <a:solidFill>
                  <a:srgbClr val="14181C"/>
                </a:solidFill>
                <a:latin typeface="Source Serif 4"/>
                <a:ea typeface="Source Serif 4"/>
                <a:cs typeface="Source Serif 4"/>
              </a:rPr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 wrap="square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pPr algn="l">
              <a:defRPr sz="1100" b="0">
                <a:solidFill>
                  <a:srgbClr val="5A6570"/>
                </a:solidFill>
                <a:latin typeface="Source Sans 3"/>
              </a:defRPr>
            </a:pPr>
            <a:fld id="{5BCAD085-E8A6-8845-BD4E-CB4CCA059FC4}" type="datetimeFigureOut">
              <a:rPr lang="en-US" smtClean="0"/>
              <a:t>1/27/13</a:t>
            </a:fld>
            <a:r>
              <a:rPr sz="1100" b="0">
                <a:solidFill>
                  <a:srgbClr val="5A6570"/>
                </a:solidFill>
                <a:latin typeface="Source Sans 3"/>
                <a:ea typeface="Source Sans 3"/>
                <a:cs typeface="Source Sans 3"/>
              </a:rPr>
              <a:t>Internal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/>
          <a:p>
            <a:r>
              <a:t>Causey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384048"/>
            <a:ext cx="10881360" cy="868680"/>
          </a:xfrm>
        </p:spPr>
        <p:txBody>
          <a:bodyPr wrap="square"/>
          <a:lstStyle/>
          <a:p>
            <a:pPr algn="l">
              <a:defRPr sz="3200" b="1">
                <a:solidFill>
                  <a:srgbClr val="14181C"/>
                </a:solidFill>
                <a:latin typeface="Source Serif 4"/>
              </a:defRPr>
            </a:pPr>
            <a:r>
              <a:rPr lang="en-US" smtClean="0" sz="3200" b="1">
                <a:solidFill>
                  <a:srgbClr val="14181C"/>
                </a:solidFill>
                <a:latin typeface="Source Serif 4"/>
                <a:ea typeface="Source Serif 4"/>
                <a:cs typeface="Source Serif 4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wrap="square"/>
          <a:lstStyle/>
          <a:p>
            <a:pPr lvl="0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Click to edit Master text styles</a:t>
            </a:r>
          </a:p>
          <a:p>
            <a:pPr lvl="1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Second level</a:t>
            </a:r>
          </a:p>
          <a:p>
            <a:pPr lvl="2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Third level</a:t>
            </a:r>
          </a:p>
          <a:p>
            <a:pPr lvl="3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Fourth level</a:t>
            </a:r>
          </a:p>
          <a:p>
            <a:pPr lvl="4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pPr algn="l">
              <a:defRPr sz="1100" b="0">
                <a:solidFill>
                  <a:srgbClr val="5A6570"/>
                </a:solidFill>
                <a:latin typeface="Source Sans 3"/>
              </a:defRPr>
            </a:pPr>
            <a:fld id="{5BCAD085-E8A6-8845-BD4E-CB4CCA059FC4}" type="datetimeFigureOut">
              <a:rPr lang="en-US" smtClean="0"/>
              <a:t>1/27/13</a:t>
            </a:fld>
            <a:r>
              <a:rPr sz="1100" b="0">
                <a:solidFill>
                  <a:srgbClr val="5A6570"/>
                </a:solidFill>
                <a:latin typeface="Source Sans 3"/>
                <a:ea typeface="Source Sans 3"/>
                <a:cs typeface="Source Sans 3"/>
              </a:rPr>
              <a:t>Internal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/>
          <a:p>
            <a:r>
              <a:t>Causey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 wrap="square"/>
          <a:lstStyle/>
          <a:p>
            <a:pPr lvl="0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Click to edit Master text styles</a:t>
            </a:r>
          </a:p>
          <a:p>
            <a:pPr lvl="1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Second level</a:t>
            </a:r>
          </a:p>
          <a:p>
            <a:pPr lvl="2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Third level</a:t>
            </a:r>
          </a:p>
          <a:p>
            <a:pPr lvl="3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Fourth level</a:t>
            </a:r>
          </a:p>
          <a:p>
            <a:pPr lvl="4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pPr algn="l">
              <a:defRPr sz="1100" b="0">
                <a:solidFill>
                  <a:srgbClr val="5A6570"/>
                </a:solidFill>
                <a:latin typeface="Source Sans 3"/>
              </a:defRPr>
            </a:pPr>
            <a:fld id="{5BCAD085-E8A6-8845-BD4E-CB4CCA059FC4}" type="datetimeFigureOut">
              <a:rPr lang="en-US" smtClean="0"/>
              <a:t>1/27/13</a:t>
            </a:fld>
            <a:r>
              <a:rPr sz="1100" b="0">
                <a:solidFill>
                  <a:srgbClr val="5A6570"/>
                </a:solidFill>
                <a:latin typeface="Source Sans 3"/>
                <a:ea typeface="Source Sans 3"/>
                <a:cs typeface="Source Sans 3"/>
              </a:rPr>
              <a:t>Internal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/>
          <a:p>
            <a:r>
              <a:t>Causey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/>
          </a:bodyPr>
          <a:lstStyle/>
          <a:p>
            <a:pPr algn="l">
              <a:defRPr sz="3600" b="1">
                <a:solidFill>
                  <a:srgbClr val="14181C"/>
                </a:solidFill>
                <a:latin typeface="Source Serif 4"/>
              </a:defRPr>
            </a:pPr>
            <a:r>
              <a:rPr lang="en-US" smtClean="0" sz="3600" b="1">
                <a:solidFill>
                  <a:srgbClr val="14181C"/>
                </a:solidFill>
                <a:latin typeface="Source Serif 4"/>
                <a:ea typeface="Source Serif 4"/>
                <a:cs typeface="Source Serif 4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 wrap="square">
            <a:normAutofit/>
          </a:bodyPr>
          <a:lstStyle/>
          <a:p>
            <a:pPr lvl="0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Click to edit Master text styles</a:t>
            </a:r>
          </a:p>
          <a:p>
            <a:pPr lvl="1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Second level</a:t>
            </a:r>
          </a:p>
          <a:p>
            <a:pPr lvl="2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Third level</a:t>
            </a:r>
          </a:p>
          <a:p>
            <a:pPr lvl="3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Fourth level</a:t>
            </a:r>
          </a:p>
          <a:p>
            <a:pPr lvl="4" algn="l">
              <a:defRPr sz="1800" b="0">
                <a:solidFill>
                  <a:srgbClr val="14181C"/>
                </a:solidFill>
                <a:latin typeface="Source Sans 3"/>
              </a:defRPr>
            </a:pPr>
            <a:r>
              <a:rPr lang="en-US" smtClean="0" sz="1800" b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78992" y="6565392"/>
            <a:ext cx="2926080" cy="256032"/>
          </a:xfrm>
          <a:prstGeom prst="rect">
            <a:avLst/>
          </a:prstGeom>
        </p:spPr>
        <p:txBody>
          <a:bodyPr vert="horz" lIns="91440" tIns="45720" rIns="91440" bIns="45720" rtlCol="0" anchor="ctr" wrap="square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>
              <a:defRPr sz="1100" b="0">
                <a:solidFill>
                  <a:srgbClr val="5A6570"/>
                </a:solidFill>
                <a:latin typeface="Source Sans 3"/>
              </a:defRPr>
            </a:pPr>
            <a:fld id="{5BCAD085-E8A6-8845-BD4E-CB4CCA059FC4}" type="datetimeFigureOut">
              <a:rPr lang="en-US" smtClean="0"/>
              <a:t>1/27/13</a:t>
            </a:fld>
            <a:r>
              <a:rPr sz="1100" b="0">
                <a:solidFill>
                  <a:srgbClr val="5A6570"/>
                </a:solidFill>
                <a:latin typeface="Source Sans 3"/>
                <a:ea typeface="Source Sans 3"/>
                <a:cs typeface="Source Sans 3"/>
              </a:rPr>
              <a:t/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565392"/>
            <a:ext cx="4023360" cy="256032"/>
          </a:xfrm>
          <a:prstGeom prst="rect">
            <a:avLst/>
          </a:prstGeom>
        </p:spPr>
        <p:txBody>
          <a:bodyPr vert="horz" lIns="91440" tIns="45720" rIns="91440" bIns="45720" rtlCol="0" anchor="ctr" wrap="square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>
              <a:defRPr sz="1100" b="0">
                <a:solidFill>
                  <a:srgbClr val="5A6570"/>
                </a:solidFill>
                <a:latin typeface="Source Sans 3"/>
              </a:defRPr>
            </a:pPr>
            <a:r>
              <a:rPr sz="1100" b="0">
                <a:solidFill>
                  <a:srgbClr val="5A6570"/>
                </a:solidFill>
                <a:latin typeface="Source Sans 3"/>
                <a:ea typeface="Source Sans 3"/>
                <a:cs typeface="Source Sans 3"/>
              </a:rPr>
              <a:t/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24160" y="6565392"/>
            <a:ext cx="1097280" cy="256032"/>
          </a:xfrm>
          <a:prstGeom prst="rect">
            <a:avLst/>
          </a:prstGeom>
        </p:spPr>
        <p:txBody>
          <a:bodyPr vert="horz" lIns="91440" tIns="45720" rIns="91440" bIns="45720" rtlCol="0" anchor="ctr" wrap="square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>
              <a:defRPr sz="1100" b="0">
                <a:solidFill>
                  <a:srgbClr val="5A6570"/>
                </a:solidFill>
                <a:latin typeface="Source Sans 3"/>
              </a:defRPr>
            </a:pPr>
            <a:fld id="{C1FF6DA9-008F-8B48-92A6-B652298478BF}" type="slidenum">
              <a:rPr lang="en-US" smtClean="0"/>
              <a:t>‹#›</a:t>
            </a:fld>
            <a:r>
              <a:rPr sz="1100" b="0">
                <a:solidFill>
                  <a:srgbClr val="5A6570"/>
                </a:solidFill>
                <a:latin typeface="Source Sans 3"/>
                <a:ea typeface="Source Sans 3"/>
                <a:cs typeface="Source Sans 3"/>
              </a:rPr>
              <a:t/>
            </a:r>
            <a:endParaRPr lang="en-US"/>
          </a:p>
        </p:txBody>
      </p:sp>
      <p:sp>
        <p:nvSpPr>
          <p:cNvPr id="7" name="Brand rail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23B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Footer rule"/>
          <p:cNvSpPr/>
          <p:nvPr/>
        </p:nvSpPr>
        <p:spPr>
          <a:xfrm>
            <a:off x="658368" y="6510528"/>
            <a:ext cx="10881360" cy="12700"/>
          </a:xfrm>
          <a:prstGeom prst="rect">
            <a:avLst/>
          </a:prstGeom>
          <a:solidFill>
            <a:srgbClr val="DFE3E6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9" name="Causey mark" descr="mark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8368" y="6565392"/>
            <a:ext cx="237744" cy="237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b="1">
          <a:solidFill>
            <a:schemeClr val="tx1"/>
          </a:solidFill>
          <a:latin typeface="Source Serif 4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Source Sans 3"/>
        <a:buChar char="•"/>
        <a:defRPr sz="3200" kern="1200">
          <a:solidFill>
            <a:schemeClr val="tx1"/>
          </a:solidFill>
          <a:latin typeface="Source Sans 3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Source Sans 3"/>
        <a:buChar char="–"/>
        <a:defRPr sz="2800" kern="1200">
          <a:solidFill>
            <a:schemeClr val="tx1"/>
          </a:solidFill>
          <a:latin typeface="Source Sans 3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Source Sans 3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Source Sans 3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Source Sans 3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Source Sans 3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Source Sans 3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Source Sans 3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Source Sans 3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Source Sans 3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Source Sans 3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Source Sans 3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Source Sans 3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Source Sans 3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Source Sans 3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Source Sans 3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Source Sans 3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Source Sans 3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14181C"/>
                </a:solidFill>
                <a:latin typeface="Source Serif 4"/>
                <a:ea typeface="Source Serif 4"/>
                <a:cs typeface="Source Serif 4"/>
              </a:rPr>
              <a:t>What shipped this weekend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5A6570"/>
                </a:solidFill>
                <a:latin typeface="Source Sans 3"/>
                <a:ea typeface="Source Sans 3"/>
                <a:cs typeface="Source Sans 3"/>
              </a:rPr>
              <a:t>Founders  ·  11–13 September 2026  ·  live on the website  ·  internal</a:t>
            </a:r>
          </a:p>
        </p:txBody>
      </p:sp>
      <p:pic>
        <p:nvPicPr>
          <p:cNvPr id="4" name="Picture 3" descr="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097280"/>
            <a:ext cx="1425575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813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23B32"/>
                </a:solidFill>
                <a:latin typeface="Source Sans 3"/>
                <a:ea typeface="Source Sans 3"/>
                <a:cs typeface="Source Sans 3"/>
              </a:rPr>
              <a:t>THE WEEKEND IN ONE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965960"/>
            <a:ext cx="10607040" cy="2103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14181C"/>
                </a:solidFill>
                <a:latin typeface="Source Serif 4"/>
                <a:ea typeface="Source Serif 4"/>
                <a:cs typeface="Source Serif 4"/>
              </a:rPr>
              <a:t>People can finish the jobs we already advertised — claim a school, answer Going, leave a club — without a button that looks successful and then does nothing.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4434840"/>
            <a:ext cx="1060704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5A6570"/>
                </a:solidFill>
                <a:latin typeface="Source Sans 3"/>
                <a:ea typeface="Source Sans 3"/>
                <a:cs typeface="Source Sans 3"/>
              </a:rPr>
              <a:t>Also shipped: district vs school vs coach seats, stronger sign-in, and admin tools so Causey can find and delete workspaces.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14181C"/>
                </a:solidFill>
                <a:latin typeface="Source Serif 4"/>
                <a:ea typeface="Source Serif 4"/>
                <a:cs typeface="Source Serif 4"/>
              </a:rPr>
              <a:t>Schools and districts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The district office, school office, coaches, and helpers now see different work — totals at the district, named students at the school.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After a district is claimed, its schools come with it, so “hand off this school” actually works.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Adding the first school is a form on the main page, not a link that goes nowhere.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Coaches waiting for a group assignment see “wait,” not a loop between overview and roster.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Causey founders can delete a district or a school from admin when a workspace should not exist.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14181C"/>
                </a:solidFill>
                <a:latin typeface="Source Serif 4"/>
                <a:ea typeface="Source Serif 4"/>
                <a:cs typeface="Source Serif 4"/>
              </a:rPr>
              <a:t>Families, students, and clubs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371600"/>
            <a:ext cx="539496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371600"/>
            <a:ext cx="64008" cy="4572000"/>
          </a:xfrm>
          <a:prstGeom prst="rect">
            <a:avLst/>
          </a:prstGeom>
          <a:solidFill>
            <a:srgbClr val="C23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72768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C23B32"/>
                </a:solidFill>
                <a:latin typeface="Source Sans 3"/>
                <a:ea typeface="Source Sans 3"/>
                <a:cs typeface="Source Sans 3"/>
              </a:rPr>
              <a:t>Parents and students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38528"/>
            <a:ext cx="5029200" cy="38587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Clearing Going works after a coach invite. A family’s own answer does not turn into a fake invite. Join links are for student accounts only. After the event, Family says Attended instead of a blank. Plan only nags about unfinished registration if the student is still Going.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371600"/>
            <a:ext cx="525780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63640" y="1371600"/>
            <a:ext cx="64008" cy="4572000"/>
          </a:xfrm>
          <a:prstGeom prst="rect">
            <a:avLst/>
          </a:prstGeom>
          <a:solidFill>
            <a:srgbClr val="4A8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572768"/>
            <a:ext cx="48920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3A7AA3"/>
                </a:solidFill>
                <a:latin typeface="Source Sans 3"/>
                <a:ea typeface="Source Sans 3"/>
                <a:cs typeface="Source Sans 3"/>
              </a:rPr>
              <a:t>Clubs and teams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9672" y="1938528"/>
            <a:ext cx="4892040" cy="38587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Only club admins can remove people or rotate the join code — coaches no longer see buttons that fail. Staff can leave a club they do not own. Club settings no longer demand a US state. Copy says club or team, not school.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14181C"/>
                </a:solidFill>
                <a:latin typeface="Source Serif 4"/>
                <a:ea typeface="Source Serif 4"/>
                <a:cs typeface="Source Serif 4"/>
              </a:rPr>
              <a:t>Events, sign-in, and Causey’s desk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Editing an already-approved public event no longer quietly takes it down. Drafts stay on the draft list. “Today” follows the person’s timezone.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Search by zip and distance works across chess, debate, STEM, arts, and writing — chess is still the dense directory; the others stay thin.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Sign-in, password reset, and claim-link signup are harder for bots and clearer when a link is expired or the email is wrong.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Causey admin can search users by district or school, see who created an organization, and clear junk problem reports without emailing anyone.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Buttons that copy a claim link vs an activation code, or save vs still-need-to-register, now confirm the action that was actually pressed.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14181C"/>
                </a:solidFill>
                <a:latin typeface="Source Serif 4"/>
                <a:ea typeface="Source Serif 4"/>
                <a:cs typeface="Source Serif 4"/>
              </a:rPr>
              <a:t>What this is not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371600"/>
            <a:ext cx="539496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371600"/>
            <a:ext cx="64008" cy="4572000"/>
          </a:xfrm>
          <a:prstGeom prst="rect">
            <a:avLst/>
          </a:prstGeom>
          <a:solidFill>
            <a:srgbClr val="C23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72768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C23B32"/>
                </a:solidFill>
                <a:latin typeface="Source Sans 3"/>
                <a:ea typeface="Source Sans 3"/>
                <a:cs typeface="Source Sans 3"/>
              </a:rPr>
              <a:t>Still unfinished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38528"/>
            <a:ext cx="5029200" cy="38587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No self-serve district signup. No public school directory. No in-app payments. No pairings or messaging. Email at real school volume is unproven. Price, contract, and privacy certification are not product.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371600"/>
            <a:ext cx="525780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63640" y="1371600"/>
            <a:ext cx="64008" cy="4572000"/>
          </a:xfrm>
          <a:prstGeom prst="rect">
            <a:avLst/>
          </a:prstGeom>
          <a:solidFill>
            <a:srgbClr val="4A8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572768"/>
            <a:ext cx="48920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3A7AA3"/>
                </a:solidFill>
                <a:latin typeface="Source Sans 3"/>
                <a:ea typeface="Source Sans 3"/>
                <a:cs typeface="Source Sans 3"/>
              </a:rPr>
              <a:t>What to do next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9672" y="1938528"/>
            <a:ext cx="4892040" cy="38587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4181C"/>
                </a:solidFill>
                <a:latin typeface="Source Sans 3"/>
                <a:ea typeface="Source Sans 3"/>
                <a:cs typeface="Source Sans 3"/>
              </a:rPr>
              <a:t>Walk one district claim, one family Going/Clear, and one club roster on the live site. If those three finish, this weekend stuck. If any stall, it is an ops or data issue, not a missing slide.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ausey">
      <a:dk1>
        <a:srgbClr val="14181C"/>
      </a:dk1>
      <a:lt1>
        <a:srgbClr val="FFFFFF"/>
      </a:lt1>
      <a:dk2>
        <a:srgbClr val="3A4450"/>
      </a:dk2>
      <a:lt2>
        <a:srgbClr val="F5F9FC"/>
      </a:lt2>
      <a:accent1>
        <a:srgbClr val="C23B32"/>
      </a:accent1>
      <a:accent2>
        <a:srgbClr val="4A8EB8"/>
      </a:accent2>
      <a:accent3>
        <a:srgbClr val="3A7AA3"/>
      </a:accent3>
      <a:accent4>
        <a:srgbClr val="5A6570"/>
      </a:accent4>
      <a:accent5>
        <a:srgbClr val="D4E8F4"/>
      </a:accent5>
      <a:accent6>
        <a:srgbClr val="F8E8E6"/>
      </a:accent6>
      <a:hlink>
        <a:srgbClr val="C23B32"/>
      </a:hlink>
      <a:folHlink>
        <a:srgbClr val="800080"/>
      </a:folHlink>
    </a:clrScheme>
    <a:fontScheme name="Causey">
      <a:majorFont>
        <a:latin typeface="Source Serif 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ource Sans 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shipped this weekend</dc:title>
  <dc:subject>Founder recap 11–13 September 2026</dc:subject>
  <dc:creator>Causey</dc:creator>
  <cp:keywords/>
  <dc:description>Internal. Not for external distribution.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